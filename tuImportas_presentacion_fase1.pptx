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5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tuImportas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989320" y="2148840"/>
            <a:ext cx="164592" cy="164592"/>
          </a:xfrm>
          <a:prstGeom prst="ellipse">
            <a:avLst/>
          </a:prstGeom>
          <a:solidFill>
            <a:srgbClr val="E8B89D"/>
          </a:solidFill>
          <a:ln w="12700">
            <a:solidFill>
              <a:srgbClr val="E8B8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DCEBE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 historia merece espacio.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· Desarrollo de Interfaces · 2º DAM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1: diseño preliminar y defensa de la idea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Análisis inicial: a quién ayudamos y por qué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4480560"/>
          </a:xfrm>
          <a:prstGeom prst="roundRect">
            <a:avLst>
              <a:gd name="adj" fmla="val 3846"/>
            </a:avLst>
          </a:prstGeom>
          <a:solidFill>
            <a:srgbClr val="DCEBE8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6868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Público objetivo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que sienten ansiedad, depresión o trauma y no saben cómo elegir psicólogo.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Psicólogos y psicólogas colegiados que quieren darse a conocer por su forma de trabajar.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3846"/>
            </a:avLst>
          </a:prstGeom>
          <a:solidFill>
            <a:srgbClr val="E6E1F2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Necesidad detectada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4231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 el primer paso cuesta. Los listados con estrellas y rankings generan presión y comparación justo cuando la persona más necesita calma.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44805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836676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Enfoque diferenciador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4231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ranking: explicamos por qué cada perfil encaja.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IA orienta el encaje, nunca diagnostica.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psicólogos con colegiación verificada.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Secciones y funcionalidades dinámicas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914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Secciones principales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Landing: propuesta de valor y cómo funciona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Cuestionario: consentimiento y preferencias en 3 pasos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Resultados: tres perfiles que encajan, con su porqué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 del psicólogo: estado de verificación y vista previa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658368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Funcionalidades dinámicas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Cuestionario por pasos con guardar y salir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Recomendación de perfiles con motivo de encaje (IA)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Resumen editable de lo que hemos entendido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 de sesión desde cada perfil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del psicólogo con verificación colegial y publicación solo tras confirmarla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Estructura de navegación: el usuario nunca se pierde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164592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87168" y="164592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2487168" y="16459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Consentimiento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64592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25696" y="164592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4425696" y="16459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momento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53328" y="164592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64224" y="164592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6364224" y="16459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Tus preferencias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91856" y="164592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02752" y="164592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 txBox="1"/>
          <p:nvPr/>
        </p:nvSpPr>
        <p:spPr>
          <a:xfrm>
            <a:off x="8302752" y="16459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acompañamiento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930384" y="164592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241280" y="164592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 txBox="1"/>
          <p:nvPr/>
        </p:nvSpPr>
        <p:spPr>
          <a:xfrm>
            <a:off x="10241280" y="16459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PSICÓLOGO/A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E6E1F2"/>
          </a:solidFill>
          <a:ln w="12700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 txBox="1"/>
          <p:nvPr/>
        </p:nvSpPr>
        <p:spPr>
          <a:xfrm>
            <a:off x="548640" y="320040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76272" y="320040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487168" y="320040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E6E1F2"/>
          </a:solidFill>
          <a:ln w="12700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 txBox="1"/>
          <p:nvPr/>
        </p:nvSpPr>
        <p:spPr>
          <a:xfrm>
            <a:off x="2487168" y="320040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Soy psicólogo/a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320040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5696" y="320040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E6E1F2"/>
          </a:solidFill>
          <a:ln w="12700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 txBox="1"/>
          <p:nvPr/>
        </p:nvSpPr>
        <p:spPr>
          <a:xfrm>
            <a:off x="4425696" y="320040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de datos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053328" y="320040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64224" y="320040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E6E1F2"/>
          </a:solidFill>
          <a:ln w="12700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 txBox="1"/>
          <p:nvPr/>
        </p:nvSpPr>
        <p:spPr>
          <a:xfrm>
            <a:off x="6364224" y="320040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 en revisión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991856" y="320040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02752" y="3200400"/>
            <a:ext cx="1627632" cy="868680"/>
          </a:xfrm>
          <a:prstGeom prst="roundRect">
            <a:avLst>
              <a:gd name="adj" fmla="val 12632"/>
            </a:avLst>
          </a:prstGeom>
          <a:solidFill>
            <a:srgbClr val="E6E1F2"/>
          </a:solidFill>
          <a:ln w="12700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 txBox="1"/>
          <p:nvPr/>
        </p:nvSpPr>
        <p:spPr>
          <a:xfrm>
            <a:off x="8302752" y="320040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Publicar perfil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Elementos de navegación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Cabecera fija con logo y enlaces principales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 de progreso en tres pasos y botones Atrás / Continuar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«Guardar y salir» y «Salir» siempre a mano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 de ayuda urgente (112 · 024) en todo el cuestionario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Colores: calma, orientación y confianza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AF7F2"/>
          </a:solidFill>
          <a:ln w="9525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Crema  #FAF7F2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Lienzo cálido, nada clínico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3F7D78"/>
          </a:solidFill>
          <a:ln w="9525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338328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Verde primario  #3F7D78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8529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Orienta: botones y enlaces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2C5A56"/>
          </a:solidFill>
          <a:ln w="9525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Verde oscuro  #2C5A56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8529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Enlaces sobre crema (AA)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37160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DCEBE8"/>
          </a:solidFill>
          <a:ln w="9525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905256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Verde suave  #DCEBE8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28529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Bloques de apoyo y confianza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E6E1F2"/>
          </a:solidFill>
          <a:ln w="9525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548640" y="4937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Lavanda  #E6E1F2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30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Serenidad en bloques secundarios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374904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E8B89D"/>
          </a:solidFill>
          <a:ln w="9525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 txBox="1"/>
          <p:nvPr/>
        </p:nvSpPr>
        <p:spPr>
          <a:xfrm>
            <a:off x="3383280" y="4937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Acento cálido  #E8B89D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5230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decoración, nunca texto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F2A37"/>
          </a:solidFill>
          <a:ln w="9525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 txBox="1"/>
          <p:nvPr/>
        </p:nvSpPr>
        <p:spPr>
          <a:xfrm>
            <a:off x="6217920" y="4937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 #1F2A37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5230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clara, 13,60:1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52560" y="374904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A63D2F"/>
          </a:solidFill>
          <a:ln w="9525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 txBox="1"/>
          <p:nvPr/>
        </p:nvSpPr>
        <p:spPr>
          <a:xfrm>
            <a:off x="9052560" y="4937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Crisis  #A63D2F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5230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en ayuda urgente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C5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Contraste WCAG AA: texto principal sobre crema 13,60:1 · blanco sobre verde primario 4,76:1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Tipografía: humanidad en los titulares, claridad en el texto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 600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03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Aquí, tu historia importa.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51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espacio para hablar de lo que sientes, con alguien que te escuche. Cada proceso es personal y merece su propio tiempo.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4630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· Lora 600 · 44/52 px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· Lora 600 · 32/40 px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H3 · Lora 600 · 24/32 px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Cuerpo · Inter · 16/26 px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Etiqueta · Inter 500 · 14/20 px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Botón · Inter 600 · 16/24 px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840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qué esta pareja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429768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serif Lora aporta calidez y cercanía, y combina con las formas redondeadas. Inter, sin serifas, da legibilidad en formularios y botones. Párrafos de 16 px o más, 60–75 caracteres por línea.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Formas: suaves, redondeadas y sin ángulos duros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3F7D78"/>
          </a:solidFill>
          <a:ln w="12700">
            <a:solidFill>
              <a:srgbClr val="3F7D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2296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Botón · radio 12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0116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Tarjeta · radio 16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4114800"/>
            <a:ext cx="731520" cy="731520"/>
          </a:xfrm>
          <a:prstGeom prst="ellipse">
            <a:avLst/>
          </a:prstGeom>
          <a:solidFill>
            <a:srgbClr val="E6E1F2"/>
          </a:solidFill>
          <a:ln w="12700">
            <a:solidFill>
              <a:srgbClr val="E6E1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1463040" y="410574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51206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822960" y="5120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Botones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874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Radio de 12 px y 48 px de alto: amables y fáciles de pulsar.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Tarjetas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Radio de 16 px y sombra casi invisible: contienen sin imponer.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Arco de la landing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silueta recuerda a un refugio: un espacio donde entrar.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Círculos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5303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Iniciales en lugar de fotos o puntuaciones: personas, no rankings.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Iconos: pocos, con significado y siempre con texto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8013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Burbujas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Hablar y escuchar: «Personas, no puntuaciones»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280160"/>
            <a:ext cx="35661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572000" y="1600200"/>
            <a:ext cx="822960" cy="82296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80136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Chispas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Señala la IA sin parecer clínica: no diagnostica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1280160"/>
            <a:ext cx="35661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8321040" y="1600200"/>
            <a:ext cx="822960" cy="82296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180136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2688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Escudo con check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932688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Confianza: solo colegiados verificados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2971800"/>
            <a:ext cx="35661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822960" y="3291840"/>
            <a:ext cx="822960" cy="82296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349300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288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Candado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82880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Privacidad de datos de salud con consentimiento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97680" y="2971800"/>
            <a:ext cx="35661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0"/>
          <p:cNvSpPr/>
          <p:nvPr/>
        </p:nvSpPr>
        <p:spPr>
          <a:xfrm>
            <a:off x="4572000" y="3291840"/>
            <a:ext cx="822960" cy="82296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3493008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57784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Hoja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557784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Calma y ritmo propio: puedes saltar preguntas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46720" y="2971800"/>
            <a:ext cx="35661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4"/>
          <p:cNvSpPr/>
          <p:nvPr/>
        </p:nvSpPr>
        <p:spPr>
          <a:xfrm>
            <a:off x="8321040" y="3291840"/>
            <a:ext cx="822960" cy="82296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3493008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32688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Vídeo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32688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Sesión online, se entiende sin leer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48640" y="4663440"/>
            <a:ext cx="35661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28"/>
          <p:cNvSpPr/>
          <p:nvPr/>
        </p:nvSpPr>
        <p:spPr>
          <a:xfrm>
            <a:off x="822960" y="4983480"/>
            <a:ext cx="822960" cy="82296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" y="5184648"/>
            <a:ext cx="420624" cy="42062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82880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Sillón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182880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Sesión presencial, en consulta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4297680" y="4663440"/>
            <a:ext cx="35661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2"/>
          <p:cNvSpPr/>
          <p:nvPr/>
        </p:nvSpPr>
        <p:spPr>
          <a:xfrm>
            <a:off x="4572000" y="4983480"/>
            <a:ext cx="822960" cy="82296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5184648"/>
            <a:ext cx="420624" cy="42062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57784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Flechas cruzadas</a:t>
            </a:r>
            <a:endParaRPr lang="en-US" sz="1600" dirty="0"/>
          </a:p>
        </p:txBody>
      </p:sp>
      <p:sp>
        <p:nvSpPr>
          <p:cNvPr id="44" name="Text 34"/>
          <p:cNvSpPr txBox="1"/>
          <p:nvPr/>
        </p:nvSpPr>
        <p:spPr>
          <a:xfrm>
            <a:off x="557784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«Me da igual»: ambas opciones</a:t>
            </a:r>
            <a:endParaRPr lang="en-US" sz="1150" dirty="0"/>
          </a:p>
        </p:txBody>
      </p:sp>
      <p:sp>
        <p:nvSpPr>
          <p:cNvPr id="45" name="Shape 35"/>
          <p:cNvSpPr/>
          <p:nvPr/>
        </p:nvSpPr>
        <p:spPr>
          <a:xfrm>
            <a:off x="8046720" y="4663440"/>
            <a:ext cx="35661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3DF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36"/>
          <p:cNvSpPr/>
          <p:nvPr/>
        </p:nvSpPr>
        <p:spPr>
          <a:xfrm>
            <a:off x="8321040" y="4983480"/>
            <a:ext cx="822960" cy="82296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2208" y="5184648"/>
            <a:ext cx="420624" cy="420624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32688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Reloj</a:t>
            </a:r>
            <a:endParaRPr lang="en-US" sz="1600" dirty="0"/>
          </a:p>
        </p:txBody>
      </p:sp>
      <p:sp>
        <p:nvSpPr>
          <p:cNvPr id="49" name="Text 38"/>
          <p:cNvSpPr txBox="1"/>
          <p:nvPr/>
        </p:nvSpPr>
        <p:spPr>
          <a:xfrm>
            <a:off x="9326880" y="5349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 en revisión: espera sin alarma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Landing · escritorio y móvil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750283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/tmp/land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750283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8963" y="1325880"/>
            <a:ext cx="170761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/tmp/land_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963" y="1325880"/>
            <a:ext cx="1707612" cy="4297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715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Escritorio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618963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Móvil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692334" y="1325880"/>
            <a:ext cx="194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Decisiones de diseño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692334" y="1828800"/>
            <a:ext cx="194797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Titular claro y un único botón principal.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Franja de confianza: colegiados verificados, datos protegidos, la IA no diagnostica.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Cabecera con Cómo funciona, Soy psicólogo/a y el botón principal.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Cuestionario · consentimiento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041724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/tmp/qa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041724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10404" y="1325880"/>
            <a:ext cx="170761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/tmp/qa_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404" y="1325880"/>
            <a:ext cx="1707612" cy="4297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715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Escritorio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910404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Móvil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983776" y="1325880"/>
            <a:ext cx="2656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Decisiones de diseño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983776" y="1828800"/>
            <a:ext cx="265653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«La IA no diagnostica» y «Tú decides qué compartir», antes de empezar.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botón Empezar solo se activa al marcar el consentimiento.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 de ayuda urgente visible (112 · 024).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Cuestionario · preferencias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041724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/tmp/qb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041724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10404" y="1325880"/>
            <a:ext cx="170761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/tmp/qb_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404" y="1325880"/>
            <a:ext cx="1707612" cy="4297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715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Escritorio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910404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Móvil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983776" y="1325880"/>
            <a:ext cx="2656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Decisiones de diseño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983776" y="1828800"/>
            <a:ext cx="265653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 de progreso en 3 pasos: nunca te pierdes.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Opciones grandes; «Prefiero no responder» siempre disponible.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Atrás, Continuar y Guardar y salir.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301584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/tmp/res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301584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70264" y="1325880"/>
            <a:ext cx="170761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/tmp/res_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264" y="1325880"/>
            <a:ext cx="1707612" cy="4297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715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Escritorio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170264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Móvil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243635" y="1325880"/>
            <a:ext cx="23966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Decisiones de diseño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243635" y="1828800"/>
            <a:ext cx="2396677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perfiles de igual peso: sin estrellas ni posiciones.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«Lo que hemos entendido» se puede editar.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perfil explica por qué te lo recomendamos.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Perfil del psicólogo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tuImportas · Fase 1 · Desarrollo de Interfaces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301584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/tmp/psy_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301584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70264" y="1325880"/>
            <a:ext cx="170761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/tmp/psy_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264" y="1325880"/>
            <a:ext cx="1707612" cy="4297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715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Escritorio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170264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Móvil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243635" y="1325880"/>
            <a:ext cx="23966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5A5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Decisiones de diseño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243635" y="1828800"/>
            <a:ext cx="2396677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claro: datos enviados, verificación en revisión, perfil completado.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previa del perfil con rasgos que el profesional puede corregir.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«Publicar perfil» se activa solo al verificar la colegiación.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5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Siguiente paso: Fase 2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346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EB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Maquetación en React con CSS o Tailwind, validación de accesibilidad y diseño responsive, y despliegue del proyecto completo.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 historia merece espacio.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1043</Words>
  <Application>Microsoft Office PowerPoint</Application>
  <PresentationFormat>Panorámica</PresentationFormat>
  <Paragraphs>196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Inter</vt:lpstr>
      <vt:lpstr>Lora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tuImportas · Fase 1</dc:title>
  <dc:subject>PptxGenJS Presentation</dc:subject>
  <dc:creator>PptxGenJS</dc:creator>
  <cp:lastModifiedBy>ELOY JOSÉ RODRÍGUEZ RODRÍGUEZ</cp:lastModifiedBy>
  <cp:revision>2</cp:revision>
  <dcterms:created xsi:type="dcterms:W3CDTF">2026-10-21T06:35:20Z</dcterms:created>
  <dcterms:modified xsi:type="dcterms:W3CDTF">2026-10-21T08:20:22Z</dcterms:modified>
</cp:coreProperties>
</file>